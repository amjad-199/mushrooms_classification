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3" r:id="rId2"/>
    <p:sldId id="256" r:id="rId3"/>
    <p:sldId id="264" r:id="rId4"/>
    <p:sldId id="258" r:id="rId5"/>
    <p:sldId id="259" r:id="rId6"/>
    <p:sldId id="260"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97" d="100"/>
          <a:sy n="97" d="100"/>
        </p:scale>
        <p:origin x="484"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FE2535-3D49-4334-9138-4A235290F20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B91D2C0-4186-45E9-BF5B-271B60C08E05}">
      <dgm:prSet/>
      <dgm:spPr/>
      <dgm:t>
        <a:bodyPr/>
        <a:lstStyle/>
        <a:p>
          <a:r>
            <a:rPr lang="en-GB" b="1" u="sng" dirty="0"/>
            <a:t>Two columns dropped: </a:t>
          </a:r>
          <a:r>
            <a:rPr lang="en-GB" dirty="0"/>
            <a:t>Stalk-root as there are 3916 missing values, and veil type as each mushroom from the data has a partial veil type, so this would have no effect on the classification process.</a:t>
          </a:r>
          <a:endParaRPr lang="en-US" dirty="0"/>
        </a:p>
      </dgm:t>
    </dgm:pt>
    <dgm:pt modelId="{DBDE64BC-FDC7-49D7-9C9A-043C4FEF7DBB}" type="parTrans" cxnId="{82FC7751-D331-4237-8D78-8AC9D023200C}">
      <dgm:prSet/>
      <dgm:spPr/>
      <dgm:t>
        <a:bodyPr/>
        <a:lstStyle/>
        <a:p>
          <a:endParaRPr lang="en-US"/>
        </a:p>
      </dgm:t>
    </dgm:pt>
    <dgm:pt modelId="{A181D0EF-41B1-49AF-ABF6-F0BCFBBDE2D5}" type="sibTrans" cxnId="{82FC7751-D331-4237-8D78-8AC9D023200C}">
      <dgm:prSet/>
      <dgm:spPr/>
      <dgm:t>
        <a:bodyPr/>
        <a:lstStyle/>
        <a:p>
          <a:endParaRPr lang="en-US"/>
        </a:p>
      </dgm:t>
    </dgm:pt>
    <dgm:pt modelId="{DC39FED9-901D-4163-A5B5-EB7346AC545C}">
      <dgm:prSet/>
      <dgm:spPr/>
      <dgm:t>
        <a:bodyPr/>
        <a:lstStyle/>
        <a:p>
          <a:r>
            <a:rPr lang="en-GB" b="1" u="sng" dirty="0"/>
            <a:t>Label encoding: </a:t>
          </a:r>
          <a:r>
            <a:rPr lang="en-GB" dirty="0"/>
            <a:t>Due to all the variables being categorical features, they had to be transformed into numerical columns so they can be processed by the machine learning algorithm.</a:t>
          </a:r>
          <a:endParaRPr lang="en-US" dirty="0"/>
        </a:p>
      </dgm:t>
    </dgm:pt>
    <dgm:pt modelId="{AF6B3982-61C0-4472-A34E-53BDA6A7AE5E}" type="parTrans" cxnId="{1CF73E2B-CB09-4290-8538-B4F48E702231}">
      <dgm:prSet/>
      <dgm:spPr/>
      <dgm:t>
        <a:bodyPr/>
        <a:lstStyle/>
        <a:p>
          <a:endParaRPr lang="en-US"/>
        </a:p>
      </dgm:t>
    </dgm:pt>
    <dgm:pt modelId="{D6889168-6E8C-431E-BEFB-AEF21617699A}" type="sibTrans" cxnId="{1CF73E2B-CB09-4290-8538-B4F48E702231}">
      <dgm:prSet/>
      <dgm:spPr/>
      <dgm:t>
        <a:bodyPr/>
        <a:lstStyle/>
        <a:p>
          <a:endParaRPr lang="en-US"/>
        </a:p>
      </dgm:t>
    </dgm:pt>
    <dgm:pt modelId="{47D99E8B-A44E-4101-81CC-11D93E5138FC}" type="pres">
      <dgm:prSet presAssocID="{C6FE2535-3D49-4334-9138-4A235290F207}" presName="hierChild1" presStyleCnt="0">
        <dgm:presLayoutVars>
          <dgm:chPref val="1"/>
          <dgm:dir/>
          <dgm:animOne val="branch"/>
          <dgm:animLvl val="lvl"/>
          <dgm:resizeHandles/>
        </dgm:presLayoutVars>
      </dgm:prSet>
      <dgm:spPr/>
    </dgm:pt>
    <dgm:pt modelId="{9163E7D3-A24A-4646-952E-5C2E58EEC88B}" type="pres">
      <dgm:prSet presAssocID="{7B91D2C0-4186-45E9-BF5B-271B60C08E05}" presName="hierRoot1" presStyleCnt="0"/>
      <dgm:spPr/>
    </dgm:pt>
    <dgm:pt modelId="{076240D6-9D9B-4171-8FAA-13FFF205E8EB}" type="pres">
      <dgm:prSet presAssocID="{7B91D2C0-4186-45E9-BF5B-271B60C08E05}" presName="composite" presStyleCnt="0"/>
      <dgm:spPr/>
    </dgm:pt>
    <dgm:pt modelId="{C8430599-593F-456E-A5E5-94FC1095AA6B}" type="pres">
      <dgm:prSet presAssocID="{7B91D2C0-4186-45E9-BF5B-271B60C08E05}" presName="background" presStyleLbl="node0" presStyleIdx="0" presStyleCnt="2"/>
      <dgm:spPr/>
    </dgm:pt>
    <dgm:pt modelId="{A2774200-124A-4D21-9F50-86AADF0A4CEC}" type="pres">
      <dgm:prSet presAssocID="{7B91D2C0-4186-45E9-BF5B-271B60C08E05}" presName="text" presStyleLbl="fgAcc0" presStyleIdx="0" presStyleCnt="2">
        <dgm:presLayoutVars>
          <dgm:chPref val="3"/>
        </dgm:presLayoutVars>
      </dgm:prSet>
      <dgm:spPr/>
    </dgm:pt>
    <dgm:pt modelId="{992C1FE8-AA45-4B71-AA35-765FD42F01FB}" type="pres">
      <dgm:prSet presAssocID="{7B91D2C0-4186-45E9-BF5B-271B60C08E05}" presName="hierChild2" presStyleCnt="0"/>
      <dgm:spPr/>
    </dgm:pt>
    <dgm:pt modelId="{A8A43666-1A79-4EE4-9879-1B269C74C3CB}" type="pres">
      <dgm:prSet presAssocID="{DC39FED9-901D-4163-A5B5-EB7346AC545C}" presName="hierRoot1" presStyleCnt="0"/>
      <dgm:spPr/>
    </dgm:pt>
    <dgm:pt modelId="{53C31439-3D79-41BE-8D8A-4C4072024B98}" type="pres">
      <dgm:prSet presAssocID="{DC39FED9-901D-4163-A5B5-EB7346AC545C}" presName="composite" presStyleCnt="0"/>
      <dgm:spPr/>
    </dgm:pt>
    <dgm:pt modelId="{E37F34C9-4035-4B3D-9AB6-140DF039EF28}" type="pres">
      <dgm:prSet presAssocID="{DC39FED9-901D-4163-A5B5-EB7346AC545C}" presName="background" presStyleLbl="node0" presStyleIdx="1" presStyleCnt="2"/>
      <dgm:spPr/>
    </dgm:pt>
    <dgm:pt modelId="{DE68A921-59F7-47B9-AF09-82E5E538FB80}" type="pres">
      <dgm:prSet presAssocID="{DC39FED9-901D-4163-A5B5-EB7346AC545C}" presName="text" presStyleLbl="fgAcc0" presStyleIdx="1" presStyleCnt="2">
        <dgm:presLayoutVars>
          <dgm:chPref val="3"/>
        </dgm:presLayoutVars>
      </dgm:prSet>
      <dgm:spPr/>
    </dgm:pt>
    <dgm:pt modelId="{4A5056A1-2D16-4CD5-8FCB-89B992E9E431}" type="pres">
      <dgm:prSet presAssocID="{DC39FED9-901D-4163-A5B5-EB7346AC545C}" presName="hierChild2" presStyleCnt="0"/>
      <dgm:spPr/>
    </dgm:pt>
  </dgm:ptLst>
  <dgm:cxnLst>
    <dgm:cxn modelId="{36ACC200-AE5F-42BC-A787-12E91BBDDCA2}" type="presOf" srcId="{7B91D2C0-4186-45E9-BF5B-271B60C08E05}" destId="{A2774200-124A-4D21-9F50-86AADF0A4CEC}" srcOrd="0" destOrd="0" presId="urn:microsoft.com/office/officeart/2005/8/layout/hierarchy1"/>
    <dgm:cxn modelId="{1CF73E2B-CB09-4290-8538-B4F48E702231}" srcId="{C6FE2535-3D49-4334-9138-4A235290F207}" destId="{DC39FED9-901D-4163-A5B5-EB7346AC545C}" srcOrd="1" destOrd="0" parTransId="{AF6B3982-61C0-4472-A34E-53BDA6A7AE5E}" sibTransId="{D6889168-6E8C-431E-BEFB-AEF21617699A}"/>
    <dgm:cxn modelId="{A0CAE64E-BE72-4D6D-9BB8-4CB5A8FC3324}" type="presOf" srcId="{DC39FED9-901D-4163-A5B5-EB7346AC545C}" destId="{DE68A921-59F7-47B9-AF09-82E5E538FB80}" srcOrd="0" destOrd="0" presId="urn:microsoft.com/office/officeart/2005/8/layout/hierarchy1"/>
    <dgm:cxn modelId="{82FC7751-D331-4237-8D78-8AC9D023200C}" srcId="{C6FE2535-3D49-4334-9138-4A235290F207}" destId="{7B91D2C0-4186-45E9-BF5B-271B60C08E05}" srcOrd="0" destOrd="0" parTransId="{DBDE64BC-FDC7-49D7-9C9A-043C4FEF7DBB}" sibTransId="{A181D0EF-41B1-49AF-ABF6-F0BCFBBDE2D5}"/>
    <dgm:cxn modelId="{27D278DD-438A-460D-8AD1-84BBF8C3E42B}" type="presOf" srcId="{C6FE2535-3D49-4334-9138-4A235290F207}" destId="{47D99E8B-A44E-4101-81CC-11D93E5138FC}" srcOrd="0" destOrd="0" presId="urn:microsoft.com/office/officeart/2005/8/layout/hierarchy1"/>
    <dgm:cxn modelId="{8C73C264-67B0-4845-9ABB-D2E0D320886D}" type="presParOf" srcId="{47D99E8B-A44E-4101-81CC-11D93E5138FC}" destId="{9163E7D3-A24A-4646-952E-5C2E58EEC88B}" srcOrd="0" destOrd="0" presId="urn:microsoft.com/office/officeart/2005/8/layout/hierarchy1"/>
    <dgm:cxn modelId="{35CA353C-21E6-4888-880B-779A17A435A5}" type="presParOf" srcId="{9163E7D3-A24A-4646-952E-5C2E58EEC88B}" destId="{076240D6-9D9B-4171-8FAA-13FFF205E8EB}" srcOrd="0" destOrd="0" presId="urn:microsoft.com/office/officeart/2005/8/layout/hierarchy1"/>
    <dgm:cxn modelId="{E6720860-18B2-46B5-9D4A-D4D14B81DD56}" type="presParOf" srcId="{076240D6-9D9B-4171-8FAA-13FFF205E8EB}" destId="{C8430599-593F-456E-A5E5-94FC1095AA6B}" srcOrd="0" destOrd="0" presId="urn:microsoft.com/office/officeart/2005/8/layout/hierarchy1"/>
    <dgm:cxn modelId="{3E6613F7-53DA-43A3-BDBF-A4E50DC660EC}" type="presParOf" srcId="{076240D6-9D9B-4171-8FAA-13FFF205E8EB}" destId="{A2774200-124A-4D21-9F50-86AADF0A4CEC}" srcOrd="1" destOrd="0" presId="urn:microsoft.com/office/officeart/2005/8/layout/hierarchy1"/>
    <dgm:cxn modelId="{59258A93-A844-467E-B3FF-108B81AE81C0}" type="presParOf" srcId="{9163E7D3-A24A-4646-952E-5C2E58EEC88B}" destId="{992C1FE8-AA45-4B71-AA35-765FD42F01FB}" srcOrd="1" destOrd="0" presId="urn:microsoft.com/office/officeart/2005/8/layout/hierarchy1"/>
    <dgm:cxn modelId="{43BFEAC5-F02D-4208-9C4C-348DE6816567}" type="presParOf" srcId="{47D99E8B-A44E-4101-81CC-11D93E5138FC}" destId="{A8A43666-1A79-4EE4-9879-1B269C74C3CB}" srcOrd="1" destOrd="0" presId="urn:microsoft.com/office/officeart/2005/8/layout/hierarchy1"/>
    <dgm:cxn modelId="{39BCA082-4AC3-49F8-9CE3-812F5A29A723}" type="presParOf" srcId="{A8A43666-1A79-4EE4-9879-1B269C74C3CB}" destId="{53C31439-3D79-41BE-8D8A-4C4072024B98}" srcOrd="0" destOrd="0" presId="urn:microsoft.com/office/officeart/2005/8/layout/hierarchy1"/>
    <dgm:cxn modelId="{F574126C-D4A6-46B6-98EE-8942B7B314B5}" type="presParOf" srcId="{53C31439-3D79-41BE-8D8A-4C4072024B98}" destId="{E37F34C9-4035-4B3D-9AB6-140DF039EF28}" srcOrd="0" destOrd="0" presId="urn:microsoft.com/office/officeart/2005/8/layout/hierarchy1"/>
    <dgm:cxn modelId="{5D50C959-C1BD-4A21-92C2-ADD6FD625582}" type="presParOf" srcId="{53C31439-3D79-41BE-8D8A-4C4072024B98}" destId="{DE68A921-59F7-47B9-AF09-82E5E538FB80}" srcOrd="1" destOrd="0" presId="urn:microsoft.com/office/officeart/2005/8/layout/hierarchy1"/>
    <dgm:cxn modelId="{ED842A73-E36B-432A-A208-38688AA15AF2}" type="presParOf" srcId="{A8A43666-1A79-4EE4-9879-1B269C74C3CB}" destId="{4A5056A1-2D16-4CD5-8FCB-89B992E9E43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30599-593F-456E-A5E5-94FC1095AA6B}">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774200-124A-4D21-9F50-86AADF0A4CEC}">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1" u="sng" kern="1200" dirty="0"/>
            <a:t>Two columns dropped: </a:t>
          </a:r>
          <a:r>
            <a:rPr lang="en-GB" sz="2600" kern="1200" dirty="0"/>
            <a:t>Stalk-root as there are 3916 missing values, and veil type as each mushroom from the data has a partial veil type, so this would have no effect on the classification process.</a:t>
          </a:r>
          <a:endParaRPr lang="en-US" sz="2600" kern="1200" dirty="0"/>
        </a:p>
      </dsp:txBody>
      <dsp:txXfrm>
        <a:off x="608661" y="692298"/>
        <a:ext cx="4508047" cy="2799040"/>
      </dsp:txXfrm>
    </dsp:sp>
    <dsp:sp modelId="{E37F34C9-4035-4B3D-9AB6-140DF039EF28}">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68A921-59F7-47B9-AF09-82E5E538FB80}">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1" u="sng" kern="1200" dirty="0"/>
            <a:t>Label encoding: </a:t>
          </a:r>
          <a:r>
            <a:rPr lang="en-GB" sz="2600" kern="1200" dirty="0"/>
            <a:t>Due to all the variables being categorical features, they had to be transformed into numerical columns so they can be processed by the machine learning algorithm.</a:t>
          </a:r>
          <a:endParaRPr lang="en-US" sz="2600" kern="1200" dirty="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D681EF-47A1-470E-BD3E-716BA80B7F11}" type="datetimeFigureOut">
              <a:rPr lang="en-GB" smtClean="0"/>
              <a:t>28/02/2025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A3F64-6E47-42C0-9AA9-D2BBDE08709D}" type="slidenum">
              <a:rPr lang="en-GB" smtClean="0"/>
              <a:t>‹#›</a:t>
            </a:fld>
            <a:endParaRPr lang="en-GB"/>
          </a:p>
        </p:txBody>
      </p:sp>
    </p:spTree>
    <p:extLst>
      <p:ext uri="{BB962C8B-B14F-4D97-AF65-F5344CB8AC3E}">
        <p14:creationId xmlns:p14="http://schemas.microsoft.com/office/powerpoint/2010/main" val="596870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88A3F64-6E47-42C0-9AA9-D2BBDE08709D}" type="slidenum">
              <a:rPr lang="en-GB" smtClean="0"/>
              <a:t>2</a:t>
            </a:fld>
            <a:endParaRPr lang="en-GB"/>
          </a:p>
        </p:txBody>
      </p:sp>
    </p:spTree>
    <p:extLst>
      <p:ext uri="{BB962C8B-B14F-4D97-AF65-F5344CB8AC3E}">
        <p14:creationId xmlns:p14="http://schemas.microsoft.com/office/powerpoint/2010/main" val="3916831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665B-21DF-315B-96FF-05B43F2ED4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7FAD03A-A1FC-0BEA-14FC-F618E4779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1A9F377-7941-A769-A3E9-73ECAC525746}"/>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D72F534B-D60F-5EBF-50DF-FB8CB8C360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E102DB-9954-E52D-1CE1-CE1124DAE436}"/>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1419648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F2D56-E6D1-0109-C2DC-96D156EF409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737790-25C7-20ED-C997-E586BAE5E7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FBFCA7-83D2-75FD-7F8E-91914F7CFB6C}"/>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A6089FE7-F1BF-CCF0-1D56-1335863BBE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B89C97-A73C-A8AF-E847-C2390946EAD5}"/>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257906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DBB3A-C49B-4DCD-1181-24CAB84CF8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FC0AEC1-AC20-0081-FF6E-8F2C5941D0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7F8DFD-3B5B-926F-86BE-43F142DAEA9A}"/>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BCB0862F-72D8-F396-F69F-469A190D95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4146C0-9362-1221-090A-E762314D3AE2}"/>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1293749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09D0F-08F7-EC78-295F-E159FBFDD49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356157-573C-9145-65EC-33E8AAE22A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950ED6-58B8-1898-0C8A-5D087331A8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255A923-1D32-9B3D-2D2F-B66E9CE3969E}"/>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6" name="Footer Placeholder 5">
            <a:extLst>
              <a:ext uri="{FF2B5EF4-FFF2-40B4-BE49-F238E27FC236}">
                <a16:creationId xmlns:a16="http://schemas.microsoft.com/office/drawing/2014/main" id="{A0AC5B22-6A27-0FB3-221A-B63A094722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8FF689-7688-3CC9-8FE7-87480D9552FA}"/>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1030709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E239C-D585-400E-1325-DEE8A6C04A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0E4EA86-6AFF-D8AC-C470-C8C355E38A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68807C-D3C5-95AE-CB70-B04C8F2BC3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065C4A2-7CD0-BB6C-F1B8-68521B4F85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B35851-38E0-00B0-68A8-4C2FCC0F64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08E7D1A-061B-24B7-9D3E-92DC90C4EFA1}"/>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8" name="Footer Placeholder 7">
            <a:extLst>
              <a:ext uri="{FF2B5EF4-FFF2-40B4-BE49-F238E27FC236}">
                <a16:creationId xmlns:a16="http://schemas.microsoft.com/office/drawing/2014/main" id="{AA02F163-89C3-4292-A45D-E852E85BE89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A607B0B-166E-E3DB-CBDC-5BC6229A83B2}"/>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1590541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3DD1-7631-D3EF-70CA-A5ED99CA41C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5BA27-B732-9BDC-8965-4DA972DE04FD}"/>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4" name="Footer Placeholder 3">
            <a:extLst>
              <a:ext uri="{FF2B5EF4-FFF2-40B4-BE49-F238E27FC236}">
                <a16:creationId xmlns:a16="http://schemas.microsoft.com/office/drawing/2014/main" id="{91A4CB4F-8A32-0F55-7AA8-236DD1D4218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C862494-52F5-C740-11A6-A650798379CC}"/>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7996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71DF52-BB72-757E-9906-8C9FB1203F54}"/>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3" name="Footer Placeholder 2">
            <a:extLst>
              <a:ext uri="{FF2B5EF4-FFF2-40B4-BE49-F238E27FC236}">
                <a16:creationId xmlns:a16="http://schemas.microsoft.com/office/drawing/2014/main" id="{95569609-E8B6-5E20-72AC-02FAFBF8CB8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7F1D06B-92C4-A534-19F4-80F7FFFAEA42}"/>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197061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6CA2-EE50-9EAB-CE2A-A1D1A7FF21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96CEA9-816A-B358-63AE-C8A5D07111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B7A607D-DAC5-1657-BDFA-8CE6A6F1E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29DA03-FB5D-9645-613C-E8F4D66F45D8}"/>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6" name="Footer Placeholder 5">
            <a:extLst>
              <a:ext uri="{FF2B5EF4-FFF2-40B4-BE49-F238E27FC236}">
                <a16:creationId xmlns:a16="http://schemas.microsoft.com/office/drawing/2014/main" id="{AF94F105-D8FC-9DF1-BB0C-D919E63787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745DDD-63EE-8905-F7B8-2E0D696DF36F}"/>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375191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7F00-AF5A-1A9F-9E47-0B3771FB05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3CA6DFA-521C-2FBC-31B7-6CCEE2A39D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166E660-2A30-A3FE-6085-67A66F2CD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C89B7B-A7ED-B9BB-1CF4-0A6570374E4D}"/>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6" name="Footer Placeholder 5">
            <a:extLst>
              <a:ext uri="{FF2B5EF4-FFF2-40B4-BE49-F238E27FC236}">
                <a16:creationId xmlns:a16="http://schemas.microsoft.com/office/drawing/2014/main" id="{AFE536DA-10F1-22B9-D06F-C12C23C524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15ED98-6EEB-97C7-F3B4-B40EDD7E4DD0}"/>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356922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0070-DF10-2013-7222-54144D99897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B849755-5255-BE41-1235-6FF9AC7B29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09C2C4-0AD0-8137-D59A-B237DE841788}"/>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CBD6F824-9209-4E62-FEFC-126849BA73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588F6B-0AB3-A9A8-71AC-79B646538431}"/>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548969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1BE44-6DB5-9620-0EEE-94323D8D7D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4EE0E8B-DFBE-0CF0-309F-24875C224B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1FB740-C942-90BE-C39F-90F866713ADD}"/>
              </a:ext>
            </a:extLst>
          </p:cNvPr>
          <p:cNvSpPr>
            <a:spLocks noGrp="1"/>
          </p:cNvSpPr>
          <p:nvPr>
            <p:ph type="dt" sz="half" idx="10"/>
          </p:nvPr>
        </p:nvSpPr>
        <p:spPr/>
        <p:txBody>
          <a:body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523ADAA9-5D25-E874-B8FA-FD817B6217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672DB9-F9AD-4D8F-5CDB-8A746BBECD01}"/>
              </a:ext>
            </a:extLst>
          </p:cNvPr>
          <p:cNvSpPr>
            <a:spLocks noGrp="1"/>
          </p:cNvSpPr>
          <p:nvPr>
            <p:ph type="sldNum" sz="quarter" idx="12"/>
          </p:nvPr>
        </p:nvSpPr>
        <p:spPr/>
        <p:txBody>
          <a:bodyPr/>
          <a:lstStyle/>
          <a:p>
            <a:fld id="{E47753EB-BC10-4138-9AD4-7E1DD7704429}" type="slidenum">
              <a:rPr lang="en-GB" smtClean="0"/>
              <a:t>‹#›</a:t>
            </a:fld>
            <a:endParaRPr lang="en-GB"/>
          </a:p>
        </p:txBody>
      </p:sp>
    </p:spTree>
    <p:extLst>
      <p:ext uri="{BB962C8B-B14F-4D97-AF65-F5344CB8AC3E}">
        <p14:creationId xmlns:p14="http://schemas.microsoft.com/office/powerpoint/2010/main" val="29865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DB65C1-F9D8-7AD2-C39F-828C5439D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C0D3607-6884-8AD9-98C5-E2F9983917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ADBBE4-108F-31E2-0D11-C12D8EDF65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62A3AA-D27E-494F-B800-355D67655AB0}" type="datetimeFigureOut">
              <a:rPr lang="en-GB" smtClean="0"/>
              <a:t>28/02/2025</a:t>
            </a:fld>
            <a:endParaRPr lang="en-GB"/>
          </a:p>
        </p:txBody>
      </p:sp>
      <p:sp>
        <p:nvSpPr>
          <p:cNvPr id="5" name="Footer Placeholder 4">
            <a:extLst>
              <a:ext uri="{FF2B5EF4-FFF2-40B4-BE49-F238E27FC236}">
                <a16:creationId xmlns:a16="http://schemas.microsoft.com/office/drawing/2014/main" id="{72E2F636-FAF7-63B1-8E2D-D4C0993F1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6B993C5-CC02-F964-A65D-5550D66C78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7753EB-BC10-4138-9AD4-7E1DD7704429}" type="slidenum">
              <a:rPr lang="en-GB" smtClean="0"/>
              <a:t>‹#›</a:t>
            </a:fld>
            <a:endParaRPr lang="en-GB"/>
          </a:p>
        </p:txBody>
      </p:sp>
    </p:spTree>
    <p:extLst>
      <p:ext uri="{BB962C8B-B14F-4D97-AF65-F5344CB8AC3E}">
        <p14:creationId xmlns:p14="http://schemas.microsoft.com/office/powerpoint/2010/main" val="464151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Red mushrooms in forest">
            <a:extLst>
              <a:ext uri="{FF2B5EF4-FFF2-40B4-BE49-F238E27FC236}">
                <a16:creationId xmlns:a16="http://schemas.microsoft.com/office/drawing/2014/main" id="{5A4216D3-C2E7-AEA8-08C3-22D1FAD2C9CE}"/>
              </a:ext>
            </a:extLst>
          </p:cNvPr>
          <p:cNvPicPr>
            <a:picLocks noChangeAspect="1"/>
          </p:cNvPicPr>
          <p:nvPr/>
        </p:nvPicPr>
        <p:blipFill>
          <a:blip r:embed="rId2">
            <a:alphaModFix/>
          </a:blip>
          <a:srcRect t="13302" b="2429"/>
          <a:stretch/>
        </p:blipFill>
        <p:spPr>
          <a:xfrm>
            <a:off x="20" y="10"/>
            <a:ext cx="12191979" cy="6857990"/>
          </a:xfrm>
          <a:prstGeom prst="rect">
            <a:avLst/>
          </a:prstGeom>
        </p:spPr>
      </p:pic>
      <p:sp>
        <p:nvSpPr>
          <p:cNvPr id="8" name="Rectangle 7">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2B7DA-8FF4-4128-2905-3F2C348B852B}"/>
              </a:ext>
            </a:extLst>
          </p:cNvPr>
          <p:cNvSpPr>
            <a:spLocks noGrp="1"/>
          </p:cNvSpPr>
          <p:nvPr>
            <p:ph type="title"/>
          </p:nvPr>
        </p:nvSpPr>
        <p:spPr>
          <a:xfrm>
            <a:off x="762000" y="1137434"/>
            <a:ext cx="10338216" cy="1358427"/>
          </a:xfrm>
        </p:spPr>
        <p:txBody>
          <a:bodyPr vert="horz" lIns="91440" tIns="45720" rIns="91440" bIns="45720" rtlCol="0" anchor="t">
            <a:normAutofit/>
          </a:bodyPr>
          <a:lstStyle/>
          <a:p>
            <a:r>
              <a:rPr lang="en-US" sz="4000" dirty="0">
                <a:solidFill>
                  <a:srgbClr val="FFFFFF"/>
                </a:solidFill>
              </a:rPr>
              <a:t>Identifying Poisonous Mushrooms based on their characteristics</a:t>
            </a:r>
          </a:p>
        </p:txBody>
      </p:sp>
      <p:sp>
        <p:nvSpPr>
          <p:cNvPr id="10" name="Rectangle 9">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55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9B724AC-67E3-9FB1-04BB-F16FDAE85506}"/>
              </a:ext>
            </a:extLst>
          </p:cNvPr>
          <p:cNvPicPr>
            <a:picLocks noChangeAspect="1"/>
          </p:cNvPicPr>
          <p:nvPr/>
        </p:nvPicPr>
        <p:blipFill>
          <a:blip r:embed="rId3"/>
          <a:stretch>
            <a:fillRect/>
          </a:stretch>
        </p:blipFill>
        <p:spPr>
          <a:xfrm>
            <a:off x="448114" y="456986"/>
            <a:ext cx="7281526" cy="5943600"/>
          </a:xfrm>
          <a:prstGeom prst="rect">
            <a:avLst/>
          </a:prstGeom>
        </p:spPr>
      </p:pic>
      <p:sp>
        <p:nvSpPr>
          <p:cNvPr id="2" name="TextBox 1">
            <a:extLst>
              <a:ext uri="{FF2B5EF4-FFF2-40B4-BE49-F238E27FC236}">
                <a16:creationId xmlns:a16="http://schemas.microsoft.com/office/drawing/2014/main" id="{436A32D1-C827-8BA6-18AC-BF47A62A9BBF}"/>
              </a:ext>
            </a:extLst>
          </p:cNvPr>
          <p:cNvSpPr txBox="1"/>
          <p:nvPr/>
        </p:nvSpPr>
        <p:spPr>
          <a:xfrm>
            <a:off x="7933571" y="546009"/>
            <a:ext cx="4078619" cy="1938992"/>
          </a:xfrm>
          <a:prstGeom prst="rect">
            <a:avLst/>
          </a:prstGeom>
          <a:noFill/>
        </p:spPr>
        <p:txBody>
          <a:bodyPr wrap="square" rtlCol="0">
            <a:spAutoFit/>
          </a:bodyPr>
          <a:lstStyle/>
          <a:p>
            <a:r>
              <a:rPr lang="en-GB" sz="2400" dirty="0">
                <a:solidFill>
                  <a:schemeClr val="bg1"/>
                </a:solidFill>
              </a:rPr>
              <a:t>8124 total samples in the data set.</a:t>
            </a:r>
          </a:p>
          <a:p>
            <a:endParaRPr lang="en-GB" sz="2400" dirty="0">
              <a:solidFill>
                <a:schemeClr val="bg1"/>
              </a:solidFill>
            </a:endParaRPr>
          </a:p>
          <a:p>
            <a:r>
              <a:rPr lang="en-GB" sz="2400" dirty="0">
                <a:solidFill>
                  <a:schemeClr val="bg1"/>
                </a:solidFill>
              </a:rPr>
              <a:t>Fairly balanced data set which will prevent bias.</a:t>
            </a:r>
          </a:p>
        </p:txBody>
      </p:sp>
    </p:spTree>
    <p:extLst>
      <p:ext uri="{BB962C8B-B14F-4D97-AF65-F5344CB8AC3E}">
        <p14:creationId xmlns:p14="http://schemas.microsoft.com/office/powerpoint/2010/main" val="2851093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5" name="Picture 4">
            <a:extLst>
              <a:ext uri="{FF2B5EF4-FFF2-40B4-BE49-F238E27FC236}">
                <a16:creationId xmlns:a16="http://schemas.microsoft.com/office/drawing/2014/main" id="{2EAC6DE9-8910-AEB8-71A7-BDF390F46C81}"/>
              </a:ext>
            </a:extLst>
          </p:cNvPr>
          <p:cNvPicPr>
            <a:picLocks noChangeAspect="1"/>
          </p:cNvPicPr>
          <p:nvPr/>
        </p:nvPicPr>
        <p:blipFill>
          <a:blip r:embed="rId2"/>
          <a:srcRect l="118"/>
          <a:stretch/>
        </p:blipFill>
        <p:spPr>
          <a:xfrm>
            <a:off x="20" y="655"/>
            <a:ext cx="8115280" cy="4468659"/>
          </a:xfrm>
          <a:prstGeom prst="rect">
            <a:avLst/>
          </a:prstGeom>
        </p:spPr>
      </p:pic>
      <p:pic>
        <p:nvPicPr>
          <p:cNvPr id="2050" name="Picture 2" descr="Events for February 2025 | Camden Public Library">
            <a:extLst>
              <a:ext uri="{FF2B5EF4-FFF2-40B4-BE49-F238E27FC236}">
                <a16:creationId xmlns:a16="http://schemas.microsoft.com/office/drawing/2014/main" id="{4690AD53-53CB-3779-6E45-DC34D82DA6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774" b="-2"/>
          <a:stretch/>
        </p:blipFill>
        <p:spPr bwMode="auto">
          <a:xfrm>
            <a:off x="8115298" y="-6"/>
            <a:ext cx="4081336" cy="4468876"/>
          </a:xfrm>
          <a:prstGeom prst="rect">
            <a:avLst/>
          </a:prstGeom>
          <a:noFill/>
          <a:extLst>
            <a:ext uri="{909E8E84-426E-40DD-AFC4-6F175D3DCCD1}">
              <a14:hiddenFill xmlns:a14="http://schemas.microsoft.com/office/drawing/2010/main">
                <a:solidFill>
                  <a:srgbClr val="FFFFFF"/>
                </a:solidFill>
              </a14:hiddenFill>
            </a:ext>
          </a:extLst>
        </p:spPr>
      </p:pic>
      <p:sp>
        <p:nvSpPr>
          <p:cNvPr id="2068" name="Rectangle 206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66372"/>
            <a:ext cx="12191998" cy="2390128"/>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Rectangle 2069">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464543"/>
            <a:ext cx="8115300" cy="23919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2" name="Rectangle 2071">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69" y="4466372"/>
            <a:ext cx="12201266" cy="2390128"/>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8" y="4466372"/>
            <a:ext cx="4081336" cy="2390128"/>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Rectangle 2075">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35" y="4486258"/>
            <a:ext cx="12194550" cy="1968154"/>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Freeform: Shape 2077">
            <a:extLst>
              <a:ext uri="{FF2B5EF4-FFF2-40B4-BE49-F238E27FC236}">
                <a16:creationId xmlns:a16="http://schemas.microsoft.com/office/drawing/2014/main" id="{D625ED14-F0D2-4FCA-87F3-4E3D2A03D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4834054">
            <a:off x="6748954" y="2254165"/>
            <a:ext cx="3118759" cy="4639931"/>
          </a:xfrm>
          <a:custGeom>
            <a:avLst/>
            <a:gdLst>
              <a:gd name="connsiteX0" fmla="*/ 3118759 w 3118759"/>
              <a:gd name="connsiteY0" fmla="*/ 79510 h 4639931"/>
              <a:gd name="connsiteX1" fmla="*/ 1204940 w 3118759"/>
              <a:gd name="connsiteY1" fmla="*/ 4639931 h 4639931"/>
              <a:gd name="connsiteX2" fmla="*/ 1103495 w 3118759"/>
              <a:gd name="connsiteY2" fmla="*/ 4578302 h 4639931"/>
              <a:gd name="connsiteX3" fmla="*/ 0 w 3118759"/>
              <a:gd name="connsiteY3" fmla="*/ 2502877 h 4639931"/>
              <a:gd name="connsiteX4" fmla="*/ 2502877 w 3118759"/>
              <a:gd name="connsiteY4" fmla="*/ 0 h 4639931"/>
              <a:gd name="connsiteX5" fmla="*/ 3007294 w 3118759"/>
              <a:gd name="connsiteY5" fmla="*/ 50850 h 463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8759" h="4639931">
                <a:moveTo>
                  <a:pt x="3118759" y="79510"/>
                </a:moveTo>
                <a:lnTo>
                  <a:pt x="1204940" y="4639931"/>
                </a:lnTo>
                <a:lnTo>
                  <a:pt x="1103495" y="4578302"/>
                </a:lnTo>
                <a:cubicBezTo>
                  <a:pt x="437725" y="4128517"/>
                  <a:pt x="0" y="3366815"/>
                  <a:pt x="0" y="2502877"/>
                </a:cubicBezTo>
                <a:cubicBezTo>
                  <a:pt x="0" y="1120576"/>
                  <a:pt x="1120576" y="0"/>
                  <a:pt x="2502877" y="0"/>
                </a:cubicBezTo>
                <a:cubicBezTo>
                  <a:pt x="2675665" y="0"/>
                  <a:pt x="2844363" y="17509"/>
                  <a:pt x="3007294" y="50850"/>
                </a:cubicBezTo>
                <a:close/>
              </a:path>
            </a:pathLst>
          </a:custGeom>
          <a:gradFill>
            <a:gsLst>
              <a:gs pos="31000">
                <a:schemeClr val="accent1">
                  <a:alpha val="0"/>
                </a:schemeClr>
              </a:gs>
              <a:gs pos="85000">
                <a:schemeClr val="accent1">
                  <a:alpha val="17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FD8CB901-BE44-2E66-D795-E93130697861}"/>
              </a:ext>
            </a:extLst>
          </p:cNvPr>
          <p:cNvSpPr txBox="1"/>
          <p:nvPr/>
        </p:nvSpPr>
        <p:spPr>
          <a:xfrm>
            <a:off x="127416" y="4486257"/>
            <a:ext cx="11707317" cy="220866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600" kern="1200" dirty="0">
                <a:solidFill>
                  <a:srgbClr val="FFFFFF"/>
                </a:solidFill>
                <a:latin typeface="+mj-lt"/>
                <a:ea typeface="+mj-ea"/>
                <a:cs typeface="+mj-cs"/>
              </a:rPr>
              <a:t>We can see that the gills of the mushroom have a big say in whether it is poisonous or edible</a:t>
            </a:r>
            <a:r>
              <a:rPr lang="en-US" sz="2600" dirty="0">
                <a:solidFill>
                  <a:srgbClr val="FFFFFF"/>
                </a:solidFill>
                <a:latin typeface="+mj-lt"/>
                <a:ea typeface="+mj-ea"/>
                <a:cs typeface="+mj-cs"/>
              </a:rPr>
              <a:t>, with the </a:t>
            </a:r>
            <a:r>
              <a:rPr lang="en-US" sz="2600" dirty="0" err="1">
                <a:solidFill>
                  <a:srgbClr val="FFFFFF"/>
                </a:solidFill>
                <a:latin typeface="+mj-lt"/>
                <a:ea typeface="+mj-ea"/>
                <a:cs typeface="+mj-cs"/>
              </a:rPr>
              <a:t>colour</a:t>
            </a:r>
            <a:r>
              <a:rPr lang="en-US" sz="2600" dirty="0">
                <a:solidFill>
                  <a:srgbClr val="FFFFFF"/>
                </a:solidFill>
                <a:latin typeface="+mj-lt"/>
                <a:ea typeface="+mj-ea"/>
                <a:cs typeface="+mj-cs"/>
              </a:rPr>
              <a:t> and size being strongly correlated with our target variable Mushroom Class. The presence of bruises is also a big factor, let’s explore these relationships further…</a:t>
            </a:r>
            <a:endParaRPr lang="en-US" sz="2600" kern="1200" dirty="0">
              <a:solidFill>
                <a:srgbClr val="FFFFFF"/>
              </a:solidFill>
              <a:latin typeface="+mj-lt"/>
              <a:ea typeface="+mj-ea"/>
              <a:cs typeface="+mj-cs"/>
            </a:endParaRPr>
          </a:p>
        </p:txBody>
      </p:sp>
    </p:spTree>
    <p:extLst>
      <p:ext uri="{BB962C8B-B14F-4D97-AF65-F5344CB8AC3E}">
        <p14:creationId xmlns:p14="http://schemas.microsoft.com/office/powerpoint/2010/main" val="356692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DA82801-C3F9-D307-E633-7D65FCE6F0F2}"/>
              </a:ext>
            </a:extLst>
          </p:cNvPr>
          <p:cNvPicPr>
            <a:picLocks noChangeAspect="1"/>
          </p:cNvPicPr>
          <p:nvPr/>
        </p:nvPicPr>
        <p:blipFill>
          <a:blip r:embed="rId2"/>
          <a:stretch>
            <a:fillRect/>
          </a:stretch>
        </p:blipFill>
        <p:spPr>
          <a:xfrm>
            <a:off x="313203" y="299803"/>
            <a:ext cx="8312728" cy="5943600"/>
          </a:xfrm>
          <a:prstGeom prst="rect">
            <a:avLst/>
          </a:prstGeom>
        </p:spPr>
      </p:pic>
      <p:sp>
        <p:nvSpPr>
          <p:cNvPr id="3" name="TextBox 2">
            <a:extLst>
              <a:ext uri="{FF2B5EF4-FFF2-40B4-BE49-F238E27FC236}">
                <a16:creationId xmlns:a16="http://schemas.microsoft.com/office/drawing/2014/main" id="{FC5A4D2C-B2CC-B648-E6CC-DA4996D81D9A}"/>
              </a:ext>
            </a:extLst>
          </p:cNvPr>
          <p:cNvSpPr txBox="1"/>
          <p:nvPr/>
        </p:nvSpPr>
        <p:spPr>
          <a:xfrm>
            <a:off x="8999275" y="388127"/>
            <a:ext cx="2776092" cy="2585323"/>
          </a:xfrm>
          <a:prstGeom prst="rect">
            <a:avLst/>
          </a:prstGeom>
          <a:noFill/>
        </p:spPr>
        <p:txBody>
          <a:bodyPr wrap="square" rtlCol="0">
            <a:spAutoFit/>
          </a:bodyPr>
          <a:lstStyle/>
          <a:p>
            <a:r>
              <a:rPr lang="en-GB" dirty="0">
                <a:solidFill>
                  <a:schemeClr val="bg1"/>
                </a:solidFill>
              </a:rPr>
              <a:t>Mushrooms with a narrow gill size are more likely to be poisonous.</a:t>
            </a:r>
          </a:p>
          <a:p>
            <a:endParaRPr lang="en-GB" dirty="0">
              <a:solidFill>
                <a:schemeClr val="bg1"/>
              </a:solidFill>
            </a:endParaRPr>
          </a:p>
          <a:p>
            <a:r>
              <a:rPr lang="en-GB" dirty="0">
                <a:solidFill>
                  <a:schemeClr val="bg1"/>
                </a:solidFill>
              </a:rPr>
              <a:t>However, there is a considerable portion of poisonous mushrooms with a broad gill size as well. </a:t>
            </a:r>
          </a:p>
        </p:txBody>
      </p:sp>
    </p:spTree>
    <p:extLst>
      <p:ext uri="{BB962C8B-B14F-4D97-AF65-F5344CB8AC3E}">
        <p14:creationId xmlns:p14="http://schemas.microsoft.com/office/powerpoint/2010/main" val="259268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37BEA0E-89D5-2556-9912-E917E7D67F46}"/>
              </a:ext>
            </a:extLst>
          </p:cNvPr>
          <p:cNvPicPr>
            <a:picLocks noChangeAspect="1"/>
          </p:cNvPicPr>
          <p:nvPr/>
        </p:nvPicPr>
        <p:blipFill>
          <a:blip r:embed="rId2"/>
          <a:stretch>
            <a:fillRect/>
          </a:stretch>
        </p:blipFill>
        <p:spPr>
          <a:xfrm>
            <a:off x="253349" y="239843"/>
            <a:ext cx="8140711" cy="5943600"/>
          </a:xfrm>
          <a:prstGeom prst="rect">
            <a:avLst/>
          </a:prstGeom>
        </p:spPr>
      </p:pic>
      <p:cxnSp>
        <p:nvCxnSpPr>
          <p:cNvPr id="7" name="Straight Arrow Connector 6">
            <a:extLst>
              <a:ext uri="{FF2B5EF4-FFF2-40B4-BE49-F238E27FC236}">
                <a16:creationId xmlns:a16="http://schemas.microsoft.com/office/drawing/2014/main" id="{A1A63E4A-13FD-098C-92C0-22DADA3D3836}"/>
              </a:ext>
            </a:extLst>
          </p:cNvPr>
          <p:cNvCxnSpPr>
            <a:cxnSpLocks/>
          </p:cNvCxnSpPr>
          <p:nvPr/>
        </p:nvCxnSpPr>
        <p:spPr>
          <a:xfrm flipH="1" flipV="1">
            <a:off x="6305521" y="2080721"/>
            <a:ext cx="2845058" cy="2017633"/>
          </a:xfrm>
          <a:prstGeom prst="straightConnector1">
            <a:avLst/>
          </a:prstGeom>
          <a:ln>
            <a:solidFill>
              <a:srgbClr val="FFC000"/>
            </a:solidFill>
            <a:tailEnd type="triangle"/>
          </a:ln>
        </p:spPr>
        <p:style>
          <a:lnRef idx="2">
            <a:schemeClr val="accent6"/>
          </a:lnRef>
          <a:fillRef idx="0">
            <a:schemeClr val="accent6"/>
          </a:fillRef>
          <a:effectRef idx="1">
            <a:schemeClr val="accent6"/>
          </a:effectRef>
          <a:fontRef idx="minor">
            <a:schemeClr val="tx1"/>
          </a:fontRef>
        </p:style>
      </p:cxnSp>
      <p:sp>
        <p:nvSpPr>
          <p:cNvPr id="9" name="TextBox 8">
            <a:extLst>
              <a:ext uri="{FF2B5EF4-FFF2-40B4-BE49-F238E27FC236}">
                <a16:creationId xmlns:a16="http://schemas.microsoft.com/office/drawing/2014/main" id="{34561269-5803-D472-8BB4-D22494439D3B}"/>
              </a:ext>
            </a:extLst>
          </p:cNvPr>
          <p:cNvSpPr txBox="1"/>
          <p:nvPr/>
        </p:nvSpPr>
        <p:spPr>
          <a:xfrm>
            <a:off x="9150580" y="4058883"/>
            <a:ext cx="2788072" cy="1477328"/>
          </a:xfrm>
          <a:prstGeom prst="rect">
            <a:avLst/>
          </a:prstGeom>
          <a:noFill/>
        </p:spPr>
        <p:txBody>
          <a:bodyPr wrap="square" rtlCol="0">
            <a:spAutoFit/>
          </a:bodyPr>
          <a:lstStyle/>
          <a:p>
            <a:r>
              <a:rPr lang="en-GB" dirty="0">
                <a:solidFill>
                  <a:srgbClr val="FFC000"/>
                </a:solidFill>
              </a:rPr>
              <a:t>Out of the 1728 mushrooms from the data set with gill colour buff, all of them turned out to be poisonous.</a:t>
            </a:r>
          </a:p>
        </p:txBody>
      </p:sp>
      <p:pic>
        <p:nvPicPr>
          <p:cNvPr id="3074" name="Picture 2" descr="Buff fungi">
            <a:extLst>
              <a:ext uri="{FF2B5EF4-FFF2-40B4-BE49-F238E27FC236}">
                <a16:creationId xmlns:a16="http://schemas.microsoft.com/office/drawing/2014/main" id="{96AA00C9-4E81-A8BB-044F-BBA9B0019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383" y="215946"/>
            <a:ext cx="3398321" cy="3165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624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showing a number of injuries&#10;&#10;AI-generated content may be incorrect.">
            <a:extLst>
              <a:ext uri="{FF2B5EF4-FFF2-40B4-BE49-F238E27FC236}">
                <a16:creationId xmlns:a16="http://schemas.microsoft.com/office/drawing/2014/main" id="{F7DEAAFB-DF66-4E03-9F7C-732B5746EAC3}"/>
              </a:ext>
            </a:extLst>
          </p:cNvPr>
          <p:cNvPicPr>
            <a:picLocks noChangeAspect="1"/>
          </p:cNvPicPr>
          <p:nvPr/>
        </p:nvPicPr>
        <p:blipFill>
          <a:blip r:embed="rId2"/>
          <a:stretch>
            <a:fillRect/>
          </a:stretch>
        </p:blipFill>
        <p:spPr>
          <a:xfrm>
            <a:off x="334231" y="253269"/>
            <a:ext cx="7757222" cy="5943600"/>
          </a:xfrm>
          <a:prstGeom prst="rect">
            <a:avLst/>
          </a:prstGeom>
        </p:spPr>
      </p:pic>
      <p:sp>
        <p:nvSpPr>
          <p:cNvPr id="2" name="TextBox 1">
            <a:extLst>
              <a:ext uri="{FF2B5EF4-FFF2-40B4-BE49-F238E27FC236}">
                <a16:creationId xmlns:a16="http://schemas.microsoft.com/office/drawing/2014/main" id="{F610EA97-1AAD-3CF5-EB05-801E71594CD2}"/>
              </a:ext>
            </a:extLst>
          </p:cNvPr>
          <p:cNvSpPr txBox="1"/>
          <p:nvPr/>
        </p:nvSpPr>
        <p:spPr>
          <a:xfrm>
            <a:off x="8341433" y="322342"/>
            <a:ext cx="3335258" cy="1754326"/>
          </a:xfrm>
          <a:prstGeom prst="rect">
            <a:avLst/>
          </a:prstGeom>
          <a:noFill/>
        </p:spPr>
        <p:txBody>
          <a:bodyPr wrap="square" rtlCol="0">
            <a:spAutoFit/>
          </a:bodyPr>
          <a:lstStyle/>
          <a:p>
            <a:r>
              <a:rPr lang="en-GB" dirty="0">
                <a:solidFill>
                  <a:schemeClr val="bg1"/>
                </a:solidFill>
              </a:rPr>
              <a:t>We can see from this graph that most of the poisonous mushrooms were bruised, and that if a mushroom is bruised, there is a 69% chance of it being poisonous.</a:t>
            </a:r>
          </a:p>
        </p:txBody>
      </p:sp>
    </p:spTree>
    <p:extLst>
      <p:ext uri="{BB962C8B-B14F-4D97-AF65-F5344CB8AC3E}">
        <p14:creationId xmlns:p14="http://schemas.microsoft.com/office/powerpoint/2010/main" val="459572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2FC322-6A67-BD7E-1879-743A352DE887}"/>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Preparing the data</a:t>
            </a:r>
          </a:p>
        </p:txBody>
      </p:sp>
      <p:graphicFrame>
        <p:nvGraphicFramePr>
          <p:cNvPr id="5" name="Content Placeholder 2">
            <a:extLst>
              <a:ext uri="{FF2B5EF4-FFF2-40B4-BE49-F238E27FC236}">
                <a16:creationId xmlns:a16="http://schemas.microsoft.com/office/drawing/2014/main" id="{7808C2E3-8383-6E5D-EF8C-A8F884E0277B}"/>
              </a:ext>
            </a:extLst>
          </p:cNvPr>
          <p:cNvGraphicFramePr>
            <a:graphicFrameLocks noGrp="1"/>
          </p:cNvGraphicFramePr>
          <p:nvPr>
            <p:ph idx="1"/>
            <p:extLst>
              <p:ext uri="{D42A27DB-BD31-4B8C-83A1-F6EECF244321}">
                <p14:modId xmlns:p14="http://schemas.microsoft.com/office/powerpoint/2010/main" val="120126197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0819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80889-9855-6D23-3EFF-011ADE3D4C8D}"/>
              </a:ext>
            </a:extLst>
          </p:cNvPr>
          <p:cNvSpPr>
            <a:spLocks noGrp="1"/>
          </p:cNvSpPr>
          <p:nvPr>
            <p:ph type="title"/>
          </p:nvPr>
        </p:nvSpPr>
        <p:spPr>
          <a:xfrm>
            <a:off x="-1" y="185318"/>
            <a:ext cx="11722737" cy="1325563"/>
          </a:xfrm>
        </p:spPr>
        <p:txBody>
          <a:bodyPr>
            <a:normAutofit/>
          </a:bodyPr>
          <a:lstStyle/>
          <a:p>
            <a:pPr algn="ctr"/>
            <a:r>
              <a:rPr lang="en-GB" sz="3600" dirty="0"/>
              <a:t>Logistic Regression          80/20 split                                 SVM</a:t>
            </a:r>
          </a:p>
        </p:txBody>
      </p:sp>
      <p:pic>
        <p:nvPicPr>
          <p:cNvPr id="5" name="Picture 4">
            <a:extLst>
              <a:ext uri="{FF2B5EF4-FFF2-40B4-BE49-F238E27FC236}">
                <a16:creationId xmlns:a16="http://schemas.microsoft.com/office/drawing/2014/main" id="{5E6879BC-42F7-DFC2-E226-3B6C7A601A33}"/>
              </a:ext>
            </a:extLst>
          </p:cNvPr>
          <p:cNvPicPr>
            <a:picLocks noChangeAspect="1"/>
          </p:cNvPicPr>
          <p:nvPr/>
        </p:nvPicPr>
        <p:blipFill>
          <a:blip r:embed="rId2"/>
          <a:stretch>
            <a:fillRect/>
          </a:stretch>
        </p:blipFill>
        <p:spPr>
          <a:xfrm>
            <a:off x="178893" y="1429920"/>
            <a:ext cx="4857750" cy="3227599"/>
          </a:xfrm>
          <a:prstGeom prst="rect">
            <a:avLst/>
          </a:prstGeom>
        </p:spPr>
      </p:pic>
      <p:pic>
        <p:nvPicPr>
          <p:cNvPr id="7" name="Picture 6">
            <a:extLst>
              <a:ext uri="{FF2B5EF4-FFF2-40B4-BE49-F238E27FC236}">
                <a16:creationId xmlns:a16="http://schemas.microsoft.com/office/drawing/2014/main" id="{315DEBDB-634B-8268-DDC3-3F9B4BC6B314}"/>
              </a:ext>
            </a:extLst>
          </p:cNvPr>
          <p:cNvPicPr>
            <a:picLocks noChangeAspect="1"/>
          </p:cNvPicPr>
          <p:nvPr/>
        </p:nvPicPr>
        <p:blipFill>
          <a:blip r:embed="rId3"/>
          <a:stretch>
            <a:fillRect/>
          </a:stretch>
        </p:blipFill>
        <p:spPr>
          <a:xfrm>
            <a:off x="6789338" y="1324664"/>
            <a:ext cx="4788675" cy="3227599"/>
          </a:xfrm>
          <a:prstGeom prst="rect">
            <a:avLst/>
          </a:prstGeom>
        </p:spPr>
      </p:pic>
      <p:cxnSp>
        <p:nvCxnSpPr>
          <p:cNvPr id="9" name="Straight Connector 8">
            <a:extLst>
              <a:ext uri="{FF2B5EF4-FFF2-40B4-BE49-F238E27FC236}">
                <a16:creationId xmlns:a16="http://schemas.microsoft.com/office/drawing/2014/main" id="{50F0994E-6AE8-DB1A-E47E-7CD1DDF871A1}"/>
              </a:ext>
            </a:extLst>
          </p:cNvPr>
          <p:cNvCxnSpPr>
            <a:cxnSpLocks/>
          </p:cNvCxnSpPr>
          <p:nvPr/>
        </p:nvCxnSpPr>
        <p:spPr>
          <a:xfrm>
            <a:off x="6007496" y="1177537"/>
            <a:ext cx="0" cy="5732928"/>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3313860-4B10-5AC8-DC5C-202E6FE160EC}"/>
              </a:ext>
            </a:extLst>
          </p:cNvPr>
          <p:cNvSpPr txBox="1"/>
          <p:nvPr/>
        </p:nvSpPr>
        <p:spPr>
          <a:xfrm>
            <a:off x="131576" y="5239339"/>
            <a:ext cx="5964424" cy="1200329"/>
          </a:xfrm>
          <a:prstGeom prst="rect">
            <a:avLst/>
          </a:prstGeom>
          <a:noFill/>
        </p:spPr>
        <p:txBody>
          <a:bodyPr wrap="square" rtlCol="0">
            <a:spAutoFit/>
          </a:bodyPr>
          <a:lstStyle/>
          <a:p>
            <a:r>
              <a:rPr lang="en-GB" dirty="0"/>
              <a:t>Accuracy Score: 94.4%</a:t>
            </a:r>
          </a:p>
          <a:p>
            <a:endParaRPr lang="en-GB" dirty="0"/>
          </a:p>
          <a:p>
            <a:endParaRPr lang="en-GB" dirty="0"/>
          </a:p>
          <a:p>
            <a:endParaRPr lang="en-GB" dirty="0"/>
          </a:p>
        </p:txBody>
      </p:sp>
      <p:sp>
        <p:nvSpPr>
          <p:cNvPr id="11" name="TextBox 10">
            <a:extLst>
              <a:ext uri="{FF2B5EF4-FFF2-40B4-BE49-F238E27FC236}">
                <a16:creationId xmlns:a16="http://schemas.microsoft.com/office/drawing/2014/main" id="{9EDA5551-F7D4-7ADD-AD13-BF9B5E4A9988}"/>
              </a:ext>
            </a:extLst>
          </p:cNvPr>
          <p:cNvSpPr txBox="1"/>
          <p:nvPr/>
        </p:nvSpPr>
        <p:spPr>
          <a:xfrm>
            <a:off x="6341595" y="4933171"/>
            <a:ext cx="5183790" cy="1754326"/>
          </a:xfrm>
          <a:prstGeom prst="rect">
            <a:avLst/>
          </a:prstGeom>
          <a:noFill/>
        </p:spPr>
        <p:txBody>
          <a:bodyPr wrap="square" rtlCol="0">
            <a:spAutoFit/>
          </a:bodyPr>
          <a:lstStyle/>
          <a:p>
            <a:r>
              <a:rPr lang="en-GB" dirty="0"/>
              <a:t>Accuracy Score: 95.75%</a:t>
            </a:r>
          </a:p>
          <a:p>
            <a:endParaRPr lang="en-GB" dirty="0"/>
          </a:p>
          <a:p>
            <a:r>
              <a:rPr lang="en-GB" dirty="0"/>
              <a:t>14 False negatives became True positives.</a:t>
            </a:r>
          </a:p>
          <a:p>
            <a:endParaRPr lang="en-GB" dirty="0"/>
          </a:p>
          <a:p>
            <a:r>
              <a:rPr lang="en-GB" dirty="0"/>
              <a:t>8 False positives became True negatives.</a:t>
            </a:r>
          </a:p>
          <a:p>
            <a:endParaRPr lang="en-GB" dirty="0"/>
          </a:p>
        </p:txBody>
      </p:sp>
    </p:spTree>
    <p:extLst>
      <p:ext uri="{BB962C8B-B14F-4D97-AF65-F5344CB8AC3E}">
        <p14:creationId xmlns:p14="http://schemas.microsoft.com/office/powerpoint/2010/main" val="290364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01E8290-66BC-BFE7-276B-3C1A5E60F2F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Random Forest</a:t>
            </a:r>
          </a:p>
        </p:txBody>
      </p:sp>
      <p:pic>
        <p:nvPicPr>
          <p:cNvPr id="5" name="Picture 4">
            <a:extLst>
              <a:ext uri="{FF2B5EF4-FFF2-40B4-BE49-F238E27FC236}">
                <a16:creationId xmlns:a16="http://schemas.microsoft.com/office/drawing/2014/main" id="{A067BD35-9ED2-5B5E-3903-158CC4860A87}"/>
              </a:ext>
            </a:extLst>
          </p:cNvPr>
          <p:cNvPicPr>
            <a:picLocks noChangeAspect="1"/>
          </p:cNvPicPr>
          <p:nvPr/>
        </p:nvPicPr>
        <p:blipFill>
          <a:blip r:embed="rId2"/>
          <a:stretch>
            <a:fillRect/>
          </a:stretch>
        </p:blipFill>
        <p:spPr>
          <a:xfrm>
            <a:off x="4306211" y="54977"/>
            <a:ext cx="7225748" cy="4503866"/>
          </a:xfrm>
          <a:prstGeom prst="rect">
            <a:avLst/>
          </a:prstGeom>
        </p:spPr>
      </p:pic>
      <p:sp>
        <p:nvSpPr>
          <p:cNvPr id="6" name="TextBox 5">
            <a:extLst>
              <a:ext uri="{FF2B5EF4-FFF2-40B4-BE49-F238E27FC236}">
                <a16:creationId xmlns:a16="http://schemas.microsoft.com/office/drawing/2014/main" id="{35C3BCA9-DDC7-F520-F498-6FAF9C3DB90C}"/>
              </a:ext>
            </a:extLst>
          </p:cNvPr>
          <p:cNvSpPr txBox="1"/>
          <p:nvPr/>
        </p:nvSpPr>
        <p:spPr>
          <a:xfrm>
            <a:off x="4216764" y="4679774"/>
            <a:ext cx="7887523" cy="1477328"/>
          </a:xfrm>
          <a:prstGeom prst="rect">
            <a:avLst/>
          </a:prstGeom>
          <a:noFill/>
        </p:spPr>
        <p:txBody>
          <a:bodyPr wrap="square" rtlCol="0">
            <a:spAutoFit/>
          </a:bodyPr>
          <a:lstStyle/>
          <a:p>
            <a:r>
              <a:rPr lang="en-GB" dirty="0"/>
              <a:t>This method uses Ensemble Learning, combining multiple decision trees for better accuracy. The model is able to detect patterns from the many features that we have in our data set. Due to there not being many outliers and a finite number of types of mushrooms, the model was able to predict the poisonous and edible ones with 100% accuracy.</a:t>
            </a:r>
          </a:p>
        </p:txBody>
      </p:sp>
    </p:spTree>
    <p:extLst>
      <p:ext uri="{BB962C8B-B14F-4D97-AF65-F5344CB8AC3E}">
        <p14:creationId xmlns:p14="http://schemas.microsoft.com/office/powerpoint/2010/main" val="2831888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06D532-BB0B-F132-592D-F89D9EF4188E}"/>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Conclusion</a:t>
            </a:r>
          </a:p>
        </p:txBody>
      </p:sp>
      <p:sp>
        <p:nvSpPr>
          <p:cNvPr id="15" name="Content Placeholder 2">
            <a:extLst>
              <a:ext uri="{FF2B5EF4-FFF2-40B4-BE49-F238E27FC236}">
                <a16:creationId xmlns:a16="http://schemas.microsoft.com/office/drawing/2014/main" id="{F09957D7-29DD-D1D4-A8E9-2C88718AFF3D}"/>
              </a:ext>
            </a:extLst>
          </p:cNvPr>
          <p:cNvSpPr>
            <a:spLocks noGrp="1"/>
          </p:cNvSpPr>
          <p:nvPr>
            <p:ph idx="1"/>
          </p:nvPr>
        </p:nvSpPr>
        <p:spPr>
          <a:xfrm>
            <a:off x="4810259" y="649480"/>
            <a:ext cx="6555347" cy="5546047"/>
          </a:xfrm>
        </p:spPr>
        <p:txBody>
          <a:bodyPr anchor="ctr">
            <a:normAutofit/>
          </a:bodyPr>
          <a:lstStyle/>
          <a:p>
            <a:r>
              <a:rPr lang="en-GB" sz="2000" dirty="0"/>
              <a:t>Random Forest Classifier outperformed Logistic Regression and Support Vector Machines, achieving 100% accuracy in predicting poisonous and edible mushrooms from the data set.</a:t>
            </a:r>
          </a:p>
          <a:p>
            <a:endParaRPr lang="en-GB" sz="2000" dirty="0"/>
          </a:p>
          <a:p>
            <a:endParaRPr lang="en-GB" sz="2000" dirty="0"/>
          </a:p>
          <a:p>
            <a:r>
              <a:rPr lang="en-GB" sz="2000" dirty="0"/>
              <a:t>Due to all the variables being categorical, and the fact that there are only a finite number of types of mushrooms, it is not much of a surprise that this sophisticated method was able to be 100% accurate. </a:t>
            </a:r>
          </a:p>
          <a:p>
            <a:endParaRPr lang="en-GB" sz="2000" dirty="0"/>
          </a:p>
          <a:p>
            <a:endParaRPr lang="en-GB" sz="2000" dirty="0"/>
          </a:p>
          <a:p>
            <a:r>
              <a:rPr lang="en-GB" sz="2000" dirty="0"/>
              <a:t>The Random Forest model should do a good job when presented with new data.</a:t>
            </a:r>
          </a:p>
          <a:p>
            <a:pPr marL="0" indent="0">
              <a:buNone/>
            </a:pPr>
            <a:endParaRPr lang="en-GB" sz="2000" dirty="0"/>
          </a:p>
        </p:txBody>
      </p:sp>
    </p:spTree>
    <p:extLst>
      <p:ext uri="{BB962C8B-B14F-4D97-AF65-F5344CB8AC3E}">
        <p14:creationId xmlns:p14="http://schemas.microsoft.com/office/powerpoint/2010/main" val="3423558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Plant">
            <a:extLst>
              <a:ext uri="{FF2B5EF4-FFF2-40B4-BE49-F238E27FC236}">
                <a16:creationId xmlns:a16="http://schemas.microsoft.com/office/drawing/2014/main" id="{9DEFE670-6FA4-CE17-3892-EDB0A6EF51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143" y="818188"/>
            <a:ext cx="5221625" cy="5221625"/>
          </a:xfrm>
          <a:prstGeom prst="rect">
            <a:avLst/>
          </a:prstGeom>
        </p:spPr>
      </p:pic>
      <p:sp>
        <p:nvSpPr>
          <p:cNvPr id="24" name="Content Placeholder 2">
            <a:extLst>
              <a:ext uri="{FF2B5EF4-FFF2-40B4-BE49-F238E27FC236}">
                <a16:creationId xmlns:a16="http://schemas.microsoft.com/office/drawing/2014/main" id="{3D4C87C6-A510-CFA4-44BE-49116E2B41DC}"/>
              </a:ext>
            </a:extLst>
          </p:cNvPr>
          <p:cNvSpPr>
            <a:spLocks noGrp="1"/>
          </p:cNvSpPr>
          <p:nvPr>
            <p:ph idx="1"/>
          </p:nvPr>
        </p:nvSpPr>
        <p:spPr>
          <a:xfrm>
            <a:off x="5883391" y="279417"/>
            <a:ext cx="6029462" cy="4982131"/>
          </a:xfrm>
        </p:spPr>
        <p:txBody>
          <a:bodyPr anchor="t">
            <a:noAutofit/>
          </a:bodyPr>
          <a:lstStyle/>
          <a:p>
            <a:pPr marL="0" indent="0">
              <a:buNone/>
            </a:pPr>
            <a:r>
              <a:rPr lang="en-GB" sz="5400" i="1" dirty="0">
                <a:solidFill>
                  <a:schemeClr val="accent2">
                    <a:lumMod val="75000"/>
                    <a:alpha val="80000"/>
                  </a:schemeClr>
                </a:solidFill>
              </a:rPr>
              <a:t>So… next time you’re in a Random Forest, you can be certain that you won’t be poisoned!</a:t>
            </a:r>
          </a:p>
          <a:p>
            <a:pPr marL="0" indent="0">
              <a:buNone/>
            </a:pPr>
            <a:endParaRPr lang="en-GB" sz="5400" i="1" dirty="0">
              <a:solidFill>
                <a:schemeClr val="accent2">
                  <a:lumMod val="75000"/>
                  <a:alpha val="80000"/>
                </a:schemeClr>
              </a:solidFill>
            </a:endParaRPr>
          </a:p>
          <a:p>
            <a:pPr marL="0" indent="0">
              <a:buNone/>
            </a:pPr>
            <a:r>
              <a:rPr lang="en-GB" sz="5400" i="1" dirty="0">
                <a:solidFill>
                  <a:schemeClr val="accent2">
                    <a:lumMod val="75000"/>
                    <a:alpha val="80000"/>
                  </a:schemeClr>
                </a:solidFill>
              </a:rPr>
              <a:t>Thanks for listening!</a:t>
            </a:r>
          </a:p>
        </p:txBody>
      </p:sp>
      <p:cxnSp>
        <p:nvCxnSpPr>
          <p:cNvPr id="59" name="Straight Connector 5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4098" name="Picture 2" descr="A cluster of sulphur tuft growing out of a damp forest floor.">
            <a:extLst>
              <a:ext uri="{FF2B5EF4-FFF2-40B4-BE49-F238E27FC236}">
                <a16:creationId xmlns:a16="http://schemas.microsoft.com/office/drawing/2014/main" id="{E4F15E50-1953-DCF1-6A12-BF1D2E37A3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11" y="0"/>
            <a:ext cx="579552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692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905</TotalTime>
  <Words>441</Words>
  <Application>Microsoft Office PowerPoint</Application>
  <PresentationFormat>Widescreen</PresentationFormat>
  <Paragraphs>35</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Identifying Poisonous Mushrooms based on their characteristics</vt:lpstr>
      <vt:lpstr>PowerPoint Presentation</vt:lpstr>
      <vt:lpstr>PowerPoint Presentation</vt:lpstr>
      <vt:lpstr>PowerPoint Presentation</vt:lpstr>
      <vt:lpstr>PowerPoint Presentation</vt:lpstr>
      <vt:lpstr>PowerPoint Presentation</vt:lpstr>
      <vt:lpstr>Preparing the data</vt:lpstr>
      <vt:lpstr>Logistic Regression          80/20 split                                 SVM</vt:lpstr>
      <vt:lpstr>Random Forest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Mulham Jouria</dc:creator>
  <cp:lastModifiedBy>Mulham Jouria</cp:lastModifiedBy>
  <cp:revision>3</cp:revision>
  <dcterms:created xsi:type="dcterms:W3CDTF">2025-02-27T10:04:09Z</dcterms:created>
  <dcterms:modified xsi:type="dcterms:W3CDTF">2025-02-28T13:34:32Z</dcterms:modified>
</cp:coreProperties>
</file>